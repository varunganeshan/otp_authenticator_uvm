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A5CB4B-6B23-4C8A-8F69-3F94D78F759A}">
  <a:tblStyle styleId="{39A5CB4B-6B23-4C8A-8F69-3F94D78F75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f87166a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f87166a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f87166a2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f87166a2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f87166a2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f87166a2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f87166a29_2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f87166a29_29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9f87166a29_29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f87166a2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f87166a2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f87166a2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f87166a2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f87166a2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f87166a29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f87166a2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f87166a2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f87166a2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f87166a2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e022092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fe0220927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9fe0220927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fe0220927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fe0220927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9fe0220927_1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01d7736ef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01d7736ef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a01d7736ef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01d7736ef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01d7736ef_2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a01d7736ef_2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1d7736ef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01d7736ef_2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a01d7736ef_2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01d7736ef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01d7736ef_2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a01d7736ef_2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f87166a29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f87166a29_1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9f87166a29_1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0296305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02963054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a02963054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34393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1334501" y="1329325"/>
            <a:ext cx="4351338" cy="5343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0E4E7"/>
            </a:gs>
            <a:gs pos="67000">
              <a:srgbClr val="DEF2E6"/>
            </a:gs>
            <a:gs pos="100000">
              <a:srgbClr val="DCFFE5"/>
            </a:gs>
          </a:gsLst>
          <a:lin ang="135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34393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-9939"/>
            <a:ext cx="12192000" cy="278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 descr="Logo&#10;&#10;Description automatically generated with low confidence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915939" y="101601"/>
            <a:ext cx="2353733" cy="120760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dmq_CHWmDZCZ0xavPU8Obs99BYIWQ6dWiNuon8Z9cIs/edit?gid=0#gid=0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cs.google.com/spreadsheets/d/1dmq_CHWmDZCZ0xavPU8Obs99BYIWQ6dWiNuon8Z9cIs/edit?gid=421669814#gid=421669814" TargetMode="External"/><Relationship Id="rId5" Type="http://schemas.openxmlformats.org/officeDocument/2006/relationships/hyperlink" Target="https://docs.google.com/spreadsheets/d/1dmq_CHWmDZCZ0xavPU8Obs99BYIWQ6dWiNuon8Z9cIs/edit?gid=2039518224#gid=2039518224" TargetMode="External"/><Relationship Id="rId4" Type="http://schemas.openxmlformats.org/officeDocument/2006/relationships/hyperlink" Target="https://docs.google.com/spreadsheets/d/1dmq_CHWmDZCZ0xavPU8Obs99BYIWQ6dWiNuon8Z9cIs/edit?gid=1713779682#gid=1713779682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ctrTitle"/>
          </p:nvPr>
        </p:nvSpPr>
        <p:spPr>
          <a:xfrm>
            <a:off x="3909375" y="1655200"/>
            <a:ext cx="4653000" cy="2049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5600" b="1">
                <a:latin typeface="Times New Roman"/>
                <a:ea typeface="Times New Roman"/>
                <a:cs typeface="Times New Roman"/>
                <a:sym typeface="Times New Roman"/>
              </a:rPr>
              <a:t> OTP Authenticator</a:t>
            </a: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1159133" y="3704800"/>
            <a:ext cx="10153500" cy="233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Varun G</a:t>
            </a:r>
            <a:endParaRPr sz="19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Ayan B M</a:t>
            </a:r>
            <a:endParaRPr sz="19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Prathiksha </a:t>
            </a:r>
            <a:endParaRPr sz="19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Kanthimathi C</a:t>
            </a:r>
            <a:endParaRPr sz="19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Sharath Kumar U K</a:t>
            </a:r>
            <a:endParaRPr sz="19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400"/>
              <a:buNone/>
            </a:pP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792950" y="514633"/>
            <a:ext cx="10251600" cy="713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2800" y="1228233"/>
            <a:ext cx="7999099" cy="538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LFSR(Linear Feedback Shift Register)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3">
            <a:alphaModFix/>
          </a:blip>
          <a:srcRect r="28520"/>
          <a:stretch/>
        </p:blipFill>
        <p:spPr>
          <a:xfrm>
            <a:off x="183800" y="1633633"/>
            <a:ext cx="6569308" cy="46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6753100" y="3684167"/>
            <a:ext cx="1082100" cy="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</a:t>
            </a:r>
            <a:endParaRPr sz="20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7089800" y="2073500"/>
            <a:ext cx="2743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Tap bits - 0,3,5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7553467" y="3429000"/>
            <a:ext cx="4346700" cy="14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spec: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Tap bits: [15, 13, 12, 10, 8, 6]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Reset value: 0xACE1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7 SEGMENT MULTIPLEXING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188" y="1564625"/>
            <a:ext cx="5381625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title="7segment_multiplexing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4625" y="2929655"/>
            <a:ext cx="5529850" cy="206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5936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FSM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7600" y="29358"/>
            <a:ext cx="9698865" cy="679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1160100" y="479767"/>
            <a:ext cx="10251600" cy="713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SIGNAL DESCRIPTION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1" name="Google Shape;131;p19"/>
          <p:cNvGraphicFramePr/>
          <p:nvPr/>
        </p:nvGraphicFramePr>
        <p:xfrm>
          <a:off x="1077633" y="1193367"/>
          <a:ext cx="10416500" cy="4762015"/>
        </p:xfrm>
        <a:graphic>
          <a:graphicData uri="http://schemas.openxmlformats.org/drawingml/2006/table">
            <a:tbl>
              <a:tblPr>
                <a:noFill/>
                <a:tableStyleId>{39A5CB4B-6B23-4C8A-8F69-3F94D78F759A}</a:tableStyleId>
              </a:tblPr>
              <a:tblGrid>
                <a:gridCol w="260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6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Signal</a:t>
                      </a:r>
                      <a:endParaRPr sz="2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Direction</a:t>
                      </a:r>
                      <a:endParaRPr sz="2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Width</a:t>
                      </a:r>
                      <a:endParaRPr sz="2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clk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Bit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System clock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reset_n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Bit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Active-low Asynchronous reset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21900" marR="1219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user_in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Bit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User-entered digit (0-9)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21900" marR="1219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otp_latch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Bit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Captures current LFSR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21900" marR="1219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7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user_latch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Bit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Captures user digit into user register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21900" marR="1219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Google Shape;136;p20"/>
          <p:cNvGraphicFramePr/>
          <p:nvPr/>
        </p:nvGraphicFramePr>
        <p:xfrm>
          <a:off x="970200" y="1447800"/>
          <a:ext cx="10251600" cy="3404175"/>
        </p:xfrm>
        <a:graphic>
          <a:graphicData uri="http://schemas.openxmlformats.org/drawingml/2006/table">
            <a:tbl>
              <a:tblPr>
                <a:noFill/>
                <a:tableStyleId>{39A5CB4B-6B23-4C8A-8F69-3F94D78F759A}</a:tableStyleId>
              </a:tblPr>
              <a:tblGrid>
                <a:gridCol w="215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347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lfsr_out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Bit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Decoded output of LFSR for 7-segment display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21900" marR="1219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47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user_out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Bit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Decoded output of USER for 7-segment display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21900" marR="1219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47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Bit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Anode Output for 7-segment display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21900" marR="121900" marT="25400" marB="25400" anchor="ctr">
                    <a:lnL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>
            <a:off x="798767" y="811600"/>
            <a:ext cx="10251600" cy="713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3400" b="1">
                <a:latin typeface="Times New Roman"/>
                <a:ea typeface="Times New Roman"/>
                <a:cs typeface="Times New Roman"/>
                <a:sym typeface="Times New Roman"/>
              </a:rPr>
              <a:t>TESTBENCH ARCHITECTURE</a:t>
            </a:r>
            <a:endParaRPr sz="3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662" y="1525200"/>
            <a:ext cx="10668829" cy="49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830675" y="421225"/>
            <a:ext cx="109455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BUGS IN DESIGN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8" name="Google Shape;148;p22"/>
          <p:cNvGraphicFramePr/>
          <p:nvPr/>
        </p:nvGraphicFramePr>
        <p:xfrm>
          <a:off x="952500" y="1927525"/>
          <a:ext cx="10287000" cy="2522025"/>
        </p:xfrm>
        <a:graphic>
          <a:graphicData uri="http://schemas.openxmlformats.org/drawingml/2006/table">
            <a:tbl>
              <a:tblPr>
                <a:noFill/>
                <a:tableStyleId>{39A5CB4B-6B23-4C8A-8F69-3F94D78F759A}</a:tableStyleId>
              </a:tblPr>
              <a:tblGrid>
                <a:gridCol w="17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2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expiry flag timing as per the specification is 50 seconds, but during testing, the flag was raised at 50 sec 20 ns — one clock cycle later than expected.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415650" y="382608"/>
            <a:ext cx="113607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CHANGES IN SPECIFICATION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5" name="Google Shape;155;p23"/>
          <p:cNvGraphicFramePr/>
          <p:nvPr/>
        </p:nvGraphicFramePr>
        <p:xfrm>
          <a:off x="759300" y="1491100"/>
          <a:ext cx="10287000" cy="4998450"/>
        </p:xfrm>
        <a:graphic>
          <a:graphicData uri="http://schemas.openxmlformats.org/drawingml/2006/table">
            <a:tbl>
              <a:tblPr>
                <a:noFill/>
                <a:tableStyleId>{39A5CB4B-6B23-4C8A-8F69-3F94D78F759A}</a:tableStyleId>
              </a:tblPr>
              <a:tblGrid>
                <a:gridCol w="13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 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DUT works on posedge detection logic for otp_latch and user_latch signals, but this was not mentioned in the specification.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master clock frequency used in the design was  specified.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application and usage of the HOLD_TIME parameter within the design are specified.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representation of FSM outputs (LOCKED, UNLOCKED, EXPIRED) on the 7-segment display is documented.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tap bit positions for the 16-bit LFSR implementation are detailed.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behavior of the 50-second inactivity timer is clarified — whether it resets after each user attempt or applies cumulatively across all attempts.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clock divider frequencies used for driving the 7-segment display are defined.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FSM transition condition from IDLE to GENERATE_OTP state is explicitly defined.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CODE COVERAGE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E35110-CD7A-AD45-EF6E-FA5F35F10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58"/>
          <a:stretch>
            <a:fillRect/>
          </a:stretch>
        </p:blipFill>
        <p:spPr bwMode="auto">
          <a:xfrm>
            <a:off x="663415" y="1387012"/>
            <a:ext cx="7309331" cy="503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FUNCTIONAL COVERAGE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438" y="1529725"/>
            <a:ext cx="10639425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INPUT COVERAGE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075" y="1651658"/>
            <a:ext cx="8878512" cy="5023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OUTPUT COVERAGE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75" y="1639324"/>
            <a:ext cx="9573125" cy="43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ASSERTIONS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 rotWithShape="1">
          <a:blip r:embed="rId3">
            <a:alphaModFix/>
          </a:blip>
          <a:srcRect b="41124"/>
          <a:stretch/>
        </p:blipFill>
        <p:spPr>
          <a:xfrm>
            <a:off x="480050" y="1529725"/>
            <a:ext cx="11097674" cy="373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TEST PLAN LINKS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9"/>
          <p:cNvSpPr txBox="1">
            <a:spLocks noGrp="1"/>
          </p:cNvSpPr>
          <p:nvPr>
            <p:ph type="body" idx="1"/>
          </p:nvPr>
        </p:nvSpPr>
        <p:spPr>
          <a:xfrm>
            <a:off x="415600" y="1450675"/>
            <a:ext cx="11360700" cy="465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Test Plan:</a:t>
            </a:r>
            <a:r>
              <a:rPr lang="en-US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Test Plan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Coverage Plan:</a:t>
            </a:r>
            <a:r>
              <a:rPr lang="en-US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Coverage plan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Assertion Plan:</a:t>
            </a:r>
            <a:r>
              <a:rPr lang="en-US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Assertion plan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DUT Corrections: </a:t>
            </a:r>
            <a:r>
              <a:rPr lang="en-US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DUT corrections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THANK YOU </a:t>
            </a:r>
            <a:endParaRPr sz="6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Widescreen</PresentationFormat>
  <Paragraphs>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Open Sans</vt:lpstr>
      <vt:lpstr>Cambria</vt:lpstr>
      <vt:lpstr>Times New Roman</vt:lpstr>
      <vt:lpstr>Calibri</vt:lpstr>
      <vt:lpstr>Office Theme</vt:lpstr>
      <vt:lpstr> OTP Authenticator </vt:lpstr>
      <vt:lpstr>BLOCK DIAGRAM</vt:lpstr>
      <vt:lpstr>LFSR(Linear Feedback Shift Register) </vt:lpstr>
      <vt:lpstr>7 SEGMENT MULTIPLEXING</vt:lpstr>
      <vt:lpstr>FSM</vt:lpstr>
      <vt:lpstr>SIGNAL DESCRIPTION</vt:lpstr>
      <vt:lpstr>PowerPoint Presentation</vt:lpstr>
      <vt:lpstr>TESTBENCH ARCHITECTURE</vt:lpstr>
      <vt:lpstr>BUGS IN DESIGN</vt:lpstr>
      <vt:lpstr>CHANGES IN SPECIFICATION</vt:lpstr>
      <vt:lpstr>CODE COVERAGE </vt:lpstr>
      <vt:lpstr>FUNCTIONAL COVERAGE </vt:lpstr>
      <vt:lpstr>INPUT COVERAGE </vt:lpstr>
      <vt:lpstr>OUTPUT COVERAGE</vt:lpstr>
      <vt:lpstr>ASSERTIONS</vt:lpstr>
      <vt:lpstr>TEST PLAN LINKS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Anirudha sridhar</cp:lastModifiedBy>
  <cp:revision>1</cp:revision>
  <dcterms:modified xsi:type="dcterms:W3CDTF">2025-11-05T04:52:27Z</dcterms:modified>
</cp:coreProperties>
</file>